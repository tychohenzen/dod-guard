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69d9c3828a407f" /><Relationship Type="http://schemas.openxmlformats.org/officeDocument/2006/relationships/extended-properties" Target="/docProps/app.xml" Id="R9e7d360787c740c8" /><Relationship Type="http://schemas.openxmlformats.org/officeDocument/2006/relationships/officeDocument" Target="/ppt/presentation.xml" Id="R39c32f95d82c4d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a8505e7c704e26"/>
  </p:sldMasterIdLst>
  <p:notesMasterIdLst>
    <p:notesMasterId xmlns:r="http://schemas.openxmlformats.org/officeDocument/2006/relationships" r:id="Rf96564d4f4944688"/>
  </p:notesMasterIdLst>
  <p:sldIdLst>
    <p:sldId xmlns:r="http://schemas.openxmlformats.org/officeDocument/2006/relationships" id="256" r:id="Ra5ff140dd98748b0"/>
    <p:sldId xmlns:r="http://schemas.openxmlformats.org/officeDocument/2006/relationships" id="257" r:id="R027a595ead8c449f"/>
    <p:sldId xmlns:r="http://schemas.openxmlformats.org/officeDocument/2006/relationships" id="258" r:id="Race9cff54a9d4748"/>
    <p:sldId xmlns:r="http://schemas.openxmlformats.org/officeDocument/2006/relationships" id="259" r:id="R79cf6ed474ec47f2"/>
    <p:sldId xmlns:r="http://schemas.openxmlformats.org/officeDocument/2006/relationships" id="260" r:id="R7d3856b242254ed5"/>
    <p:sldId xmlns:r="http://schemas.openxmlformats.org/officeDocument/2006/relationships" id="261" r:id="R701003695eba44ff"/>
    <p:sldId xmlns:r="http://schemas.openxmlformats.org/officeDocument/2006/relationships" id="262" r:id="R24f7b4ca36a343d3"/>
    <p:sldId xmlns:r="http://schemas.openxmlformats.org/officeDocument/2006/relationships" id="263" r:id="R365ae0b015774587"/>
    <p:sldId xmlns:r="http://schemas.openxmlformats.org/officeDocument/2006/relationships" id="264" r:id="R42ace14a10284222"/>
    <p:sldId xmlns:r="http://schemas.openxmlformats.org/officeDocument/2006/relationships" id="265" r:id="R5a7581c3eedc4e5e"/>
    <p:sldId xmlns:r="http://schemas.openxmlformats.org/officeDocument/2006/relationships" id="266" r:id="Rd6ec00a38d6541a7"/>
    <p:sldId xmlns:r="http://schemas.openxmlformats.org/officeDocument/2006/relationships" id="267" r:id="Rf075178f1e7340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c9964c95b44a0c" /><Relationship Type="http://schemas.openxmlformats.org/officeDocument/2006/relationships/slideMaster" Target="/ppt/slideMasters/slideMaster1.xml" Id="Rc6a8505e7c704e26" /><Relationship Type="http://schemas.openxmlformats.org/officeDocument/2006/relationships/notesMaster" Target="/ppt/notesMasters/notesMaster1.xml" Id="Rf96564d4f4944688" /><Relationship Type="http://schemas.openxmlformats.org/officeDocument/2006/relationships/presProps" Target="/ppt/presProps.xml" Id="Re249f8a72cf34203" /><Relationship Type="http://schemas.openxmlformats.org/officeDocument/2006/relationships/viewProps" Target="/ppt/viewProps.xml" Id="Rb65fbd2ff42642d4" /><Relationship Type="http://schemas.openxmlformats.org/officeDocument/2006/relationships/tableStyles" Target="/ppt/tableStyles.xml" Id="R92280c2465294848" /><Relationship Type="http://schemas.openxmlformats.org/officeDocument/2006/relationships/slide" Target="/ppt/slides/slide1.xml" Id="Ra5ff140dd98748b0" /><Relationship Type="http://schemas.openxmlformats.org/officeDocument/2006/relationships/slide" Target="/ppt/slides/slide2.xml" Id="R027a595ead8c449f" /><Relationship Type="http://schemas.openxmlformats.org/officeDocument/2006/relationships/slide" Target="/ppt/slides/slide3.xml" Id="Race9cff54a9d4748" /><Relationship Type="http://schemas.openxmlformats.org/officeDocument/2006/relationships/slide" Target="/ppt/slides/slide4.xml" Id="R79cf6ed474ec47f2" /><Relationship Type="http://schemas.openxmlformats.org/officeDocument/2006/relationships/slide" Target="/ppt/slides/slide5.xml" Id="R7d3856b242254ed5" /><Relationship Type="http://schemas.openxmlformats.org/officeDocument/2006/relationships/slide" Target="/ppt/slides/slide6.xml" Id="R701003695eba44ff" /><Relationship Type="http://schemas.openxmlformats.org/officeDocument/2006/relationships/slide" Target="/ppt/slides/slide7.xml" Id="R24f7b4ca36a343d3" /><Relationship Type="http://schemas.openxmlformats.org/officeDocument/2006/relationships/slide" Target="/ppt/slides/slide8.xml" Id="R365ae0b015774587" /><Relationship Type="http://schemas.openxmlformats.org/officeDocument/2006/relationships/slide" Target="/ppt/slides/slide9.xml" Id="R42ace14a10284222" /><Relationship Type="http://schemas.openxmlformats.org/officeDocument/2006/relationships/slide" Target="/ppt/slides/slide10.xml" Id="R5a7581c3eedc4e5e" /><Relationship Type="http://schemas.openxmlformats.org/officeDocument/2006/relationships/slide" Target="/ppt/slides/slide11.xml" Id="Rd6ec00a38d6541a7" /><Relationship Type="http://schemas.openxmlformats.org/officeDocument/2006/relationships/slide" Target="/ppt/slides/slide12.xml" Id="Rf075178f1e7340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2ee3409b7d45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58df8ab8264a6e" /><Relationship Type="http://schemas.openxmlformats.org/officeDocument/2006/relationships/notesMaster" Target="/ppt/notesMasters/notesMaster1.xml" Id="Rdb8f0a36ca594b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22a0401a034fed" /><Relationship Type="http://schemas.openxmlformats.org/officeDocument/2006/relationships/notesMaster" Target="/ppt/notesMasters/notesMaster1.xml" Id="Re50c28acde1b4d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c22e54356f44d6" /><Relationship Type="http://schemas.openxmlformats.org/officeDocument/2006/relationships/notesMaster" Target="/ppt/notesMasters/notesMaster1.xml" Id="Rd408a38ddc2a42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ea068358474636" /><Relationship Type="http://schemas.openxmlformats.org/officeDocument/2006/relationships/notesMaster" Target="/ppt/notesMasters/notesMaster1.xml" Id="Rdf3214c8f39741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da5ee4d4b34ff6" /><Relationship Type="http://schemas.openxmlformats.org/officeDocument/2006/relationships/notesMaster" Target="/ppt/notesMasters/notesMaster1.xml" Id="Rbf3d326af25749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2a2ce450fe4f21" /><Relationship Type="http://schemas.openxmlformats.org/officeDocument/2006/relationships/notesMaster" Target="/ppt/notesMasters/notesMaster1.xml" Id="Ra60df5acee1c41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db1bf097924702" /><Relationship Type="http://schemas.openxmlformats.org/officeDocument/2006/relationships/notesMaster" Target="/ppt/notesMasters/notesMaster1.xml" Id="R0df44a064ee044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d4dfe122d54ded" /><Relationship Type="http://schemas.openxmlformats.org/officeDocument/2006/relationships/notesMaster" Target="/ppt/notesMasters/notesMaster1.xml" Id="R6d14100f0fd244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59c09844684196" /><Relationship Type="http://schemas.openxmlformats.org/officeDocument/2006/relationships/notesMaster" Target="/ppt/notesMasters/notesMaster1.xml" Id="R1c739bec82f14c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76bb79ed2b4637" /><Relationship Type="http://schemas.openxmlformats.org/officeDocument/2006/relationships/notesMaster" Target="/ppt/notesMasters/notesMaster1.xml" Id="R0992618680d841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67db7897834264" /><Relationship Type="http://schemas.openxmlformats.org/officeDocument/2006/relationships/notesMaster" Target="/ppt/notesMasters/notesMaster1.xml" Id="Rbda5d8803a5849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f4552369814d26" /><Relationship Type="http://schemas.openxmlformats.org/officeDocument/2006/relationships/notesMaster" Target="/ppt/notesMasters/notesMaster1.xml" Id="R9640d6e3eabf4c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the central distinction is between measurement, feedback, and a decision that can block a staged change.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packages/quality-guard/README.md</a:t>
            </a:r>
            <a:endParaRPr/>
          </a:p>
          <a:p xmlns:a="http://schemas.openxmlformats.org/drawingml/2006/main">
            <a:r>
              <a:t>- packages/quality-guard/skills/quality-refactor/SKILL.md</a:t>
            </a:r>
            <a:endParaRPr/>
          </a:p>
          <a:p xmlns:a="http://schemas.openxmlformats.org/drawingml/2006/main">
            <a:r>
              <a:t>- packages/quality-guard/skills/quality-refactor/scripts/lib/config.mjs</a:t>
            </a:r>
            <a:endParaRPr/>
          </a:p>
          <a:p xmlns:a="http://schemas.openxmlformats.org/drawingml/2006/main">
            <a:r>
              <a:t>- packages/quality-guard/hooks/hooks.json</a:t>
            </a:r>
            <a:endParaRPr/>
          </a:p>
          <a:p xmlns:a="http://schemas.openxmlformats.org/drawingml/2006/main">
            <a:r>
              <a:t>- packages/quality-guard/scripts/quality-guard.mjs</a:t>
            </a:r>
            <a:endParaRPr/>
          </a:p>
          <a:p xmlns:a="http://schemas.openxmlformats.org/drawingml/2006/main">
            <a:r>
              <a:t>- packages/quality-guard/src/commit-gate/</a:t>
            </a:r>
            <a:endParaRPr/>
          </a:p>
          <a:p xmlns:a="http://schemas.openxmlformats.org/drawingml/2006/main">
            <a:r>
              <a:t>- Evidence command: quality-scan packages scripts tools --format=json, run 2026-09-01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agenda to frame the review as a question-to-answer sequence, not a feature inventory.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packages/quality-guard/README.md</a:t>
            </a:r>
          </a:p>
          <a:p xmlns:a="http://schemas.openxmlformats.org/drawingml/2006/main">
            <a:r>
              <a:t>- packages/quality-guard/skills/quality-refactor/SKILL.md</a:t>
            </a:r>
          </a:p>
          <a:p xmlns:a="http://schemas.openxmlformats.org/drawingml/2006/main">
            <a:r>
              <a:t>- packages/quality-guard/skills/quality-refactor/scripts/lib/config.mjs</a:t>
            </a:r>
          </a:p>
          <a:p xmlns:a="http://schemas.openxmlformats.org/drawingml/2006/main">
            <a:r>
              <a:t>- packages/quality-guard/hooks/hooks.json</a:t>
            </a:r>
          </a:p>
          <a:p xmlns:a="http://schemas.openxmlformats.org/drawingml/2006/main">
            <a:r>
              <a:t>- packages/quality-guard/scripts/quality-guard.mjs</a:t>
            </a:r>
          </a:p>
          <a:p xmlns:a="http://schemas.openxmlformats.org/drawingml/2006/main">
            <a:r>
              <a:t>- packages/quality-guard/src/commit-gate/</a:t>
            </a:r>
          </a:p>
          <a:p xmlns:a="http://schemas.openxmlformats.org/drawingml/2006/main">
            <a:r>
              <a:t>- Evidence command: quality-scan packages scripts tools --format=json, run 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scanner supplies structure and reachability evidence. The staged commit gate adds architecture and fingerprint-bound review evidence.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packages/quality-guard/skills/quality-refactor/SKILL.md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packages/quality-guard/skills/quality-refactor/scripts/lib/config.mjs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packages/quality-guard/hooks/hooks.json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packages/quality-guard/scripts/quality-guard.mjs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packages/quality-guard/src/commit-gate/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Evidence command: quality-scan packages scripts tools --format=json, run 2026-09-01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hook is intentionally not the repository decision. It does not run whole-project reachability rules, decide staged architecture, or establish commit readiness.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packages/quality-guard/skills/quality-refactor/SKILL.md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packages/quality-guard/skills/quality-refactor/scripts/lib/config.mjs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packages/quality-guard/hooks/hooks.json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packages/quality-guard/scripts/quality-guard.mjs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packages/quality-guard/src/commit-gate/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Evidence command: quality-scan packages scripts tools --format=json, run 2026-09-01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MCP server exposes quality_scan, quality_gate, quality_skips, and quality_commit_gate. The hook also layers in project linters when configured.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packages/quality-guard/README.md</a:t>
            </a:r>
          </a:p>
          <a:p xmlns:a="http://schemas.openxmlformats.org/drawingml/2006/main">
            <a:r>
              <a:t>- packages/quality-guard/skills/quality-refactor/SKILL.md</a:t>
            </a:r>
          </a:p>
          <a:p xmlns:a="http://schemas.openxmlformats.org/drawingml/2006/main">
            <a:r>
              <a:t>- packages/quality-guard/skills/quality-refactor/scripts/lib/config.mjs</a:t>
            </a:r>
          </a:p>
          <a:p xmlns:a="http://schemas.openxmlformats.org/drawingml/2006/main">
            <a:r>
              <a:t>- packages/quality-guard/hooks/hooks.json</a:t>
            </a:r>
          </a:p>
          <a:p xmlns:a="http://schemas.openxmlformats.org/drawingml/2006/main">
            <a:r>
              <a:t>- packages/quality-guard/scripts/quality-guard.mjs</a:t>
            </a:r>
          </a:p>
          <a:p xmlns:a="http://schemas.openxmlformats.org/drawingml/2006/main">
            <a:r>
              <a:t>- packages/quality-guard/src/commit-gate/</a:t>
            </a:r>
          </a:p>
          <a:p xmlns:a="http://schemas.openxmlformats.org/drawingml/2006/main">
            <a:r>
              <a:t>- Evidence command: quality-scan packages scripts tools --format=json, run 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presence rules include dead-export, unused-local, commented-out-code, test-only-export, else-branch, stateless-method, comment-bloat, comment-restates-code, todo-marker, and assumption-marker. The full rule table lives in the quality-refactor skill and config.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packages/quality-guard/skills/quality-refactor/SKILL.md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packages/quality-guard/skills/quality-refactor/scripts/lib/config.mjs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packages/quality-guard/hooks/hooks.json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packages/quality-guard/scripts/quality-guard.mjs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packages/quality-guard/src/commit-gate/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Evidence command: quality-scan packages scripts tools --format=json, run 2026-09-01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snapshot from the whole-tree scan on 2026-09-01. Scope was packages, scripts, and tools. The scanner reported 449 files, 7,682 findings, 1,225 errors, and 6,457 warnings.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packages/quality-guard/README.md</a:t>
            </a:r>
          </a:p>
          <a:p xmlns:a="http://schemas.openxmlformats.org/drawingml/2006/main">
            <a:r>
              <a:t>- packages/quality-guard/skills/quality-refactor/SKILL.md</a:t>
            </a:r>
          </a:p>
          <a:p xmlns:a="http://schemas.openxmlformats.org/drawingml/2006/main">
            <a:r>
              <a:t>- packages/quality-guard/skills/quality-refactor/scripts/lib/config.mjs</a:t>
            </a:r>
          </a:p>
          <a:p xmlns:a="http://schemas.openxmlformats.org/drawingml/2006/main">
            <a:r>
              <a:t>- packages/quality-guard/hooks/hooks.json</a:t>
            </a:r>
          </a:p>
          <a:p xmlns:a="http://schemas.openxmlformats.org/drawingml/2006/main">
            <a:r>
              <a:t>- packages/quality-guard/scripts/quality-guard.mjs</a:t>
            </a:r>
          </a:p>
          <a:p xmlns:a="http://schemas.openxmlformats.org/drawingml/2006/main">
            <a:r>
              <a:t>- packages/quality-guard/src/commit-gate/</a:t>
            </a:r>
          </a:p>
          <a:p xmlns:a="http://schemas.openxmlformats.org/drawingml/2006/main">
            <a:r>
              <a:t>- Evidence command: quality-scan packages scripts tools --format=json, run 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Package aggregation from the same scan: code-explorer 3,390 total and 719 errors; quality-guard 1,286 total and 186 errors; fossil 1,205 total and 171 errors; dod-guard 1,151 total and 95 errors. Scripts and tools contribute 650 total and 54 errors.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packages/quality-guard/README.md</a:t>
            </a:r>
          </a:p>
          <a:p xmlns:a="http://schemas.openxmlformats.org/drawingml/2006/main">
            <a:r>
              <a:t>- packages/quality-guard/skills/quality-refactor/SKILL.md</a:t>
            </a:r>
          </a:p>
          <a:p xmlns:a="http://schemas.openxmlformats.org/drawingml/2006/main">
            <a:r>
              <a:t>- packages/quality-guard/skills/quality-refactor/scripts/lib/config.mjs</a:t>
            </a:r>
          </a:p>
          <a:p xmlns:a="http://schemas.openxmlformats.org/drawingml/2006/main">
            <a:r>
              <a:t>- packages/quality-guard/hooks/hooks.json</a:t>
            </a:r>
          </a:p>
          <a:p xmlns:a="http://schemas.openxmlformats.org/drawingml/2006/main">
            <a:r>
              <a:t>- packages/quality-guard/scripts/quality-guard.mjs</a:t>
            </a:r>
          </a:p>
          <a:p xmlns:a="http://schemas.openxmlformats.org/drawingml/2006/main">
            <a:r>
              <a:t>- packages/quality-guard/src/commit-gate/</a:t>
            </a:r>
          </a:p>
          <a:p xmlns:a="http://schemas.openxmlformats.org/drawingml/2006/main">
            <a:r>
              <a:t>- Evidence command: quality-scan packages scripts tools --format=json, run 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authoritative staged decision returns PASS, REVIEW_REQUIRED, or FAIL. CI replays the same decision against a committed tree and its first parent.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packages/quality-guard/skills/quality-refactor/SKILL.md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packages/quality-guard/skills/quality-refactor/scripts/lib/config.mjs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packages/quality-guard/hooks/hooks.json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packages/quality-guard/scripts/quality-guard.mjs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packages/quality-guard/src/commit-gate/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Evidence command: quality-scan packages scripts tools --format=json, run 2026-09-01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scanner can produce an inventory for the whole supported codebase. The quality-refactor skill then requires responsibility discovery before planning: desired owners, directories, public boundaries, dependency direction, stable contracts, and compatibility removals.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packages/quality-guard/README.md</a:t>
            </a:r>
          </a:p>
          <a:p xmlns:a="http://schemas.openxmlformats.org/drawingml/2006/main">
            <a:r>
              <a:t>- packages/quality-guard/skills/quality-refactor/SKILL.md</a:t>
            </a:r>
          </a:p>
          <a:p xmlns:a="http://schemas.openxmlformats.org/drawingml/2006/main">
            <a:r>
              <a:t>- packages/quality-guard/skills/quality-refactor/scripts/lib/config.mjs</a:t>
            </a:r>
          </a:p>
          <a:p xmlns:a="http://schemas.openxmlformats.org/drawingml/2006/main">
            <a:r>
              <a:t>- packages/quality-guard/hooks/hooks.json</a:t>
            </a:r>
          </a:p>
          <a:p xmlns:a="http://schemas.openxmlformats.org/drawingml/2006/main">
            <a:r>
              <a:t>- packages/quality-guard/scripts/quality-guard.mjs</a:t>
            </a:r>
          </a:p>
          <a:p xmlns:a="http://schemas.openxmlformats.org/drawingml/2006/main">
            <a:r>
              <a:t>- packages/quality-guard/src/commit-gate/</a:t>
            </a:r>
          </a:p>
          <a:p xmlns:a="http://schemas.openxmlformats.org/drawingml/2006/main">
            <a:r>
              <a:t>- Evidence command: quality-scan packages scripts tools --format=json, run 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scanner's units are evidence, not work breakdowns. The responsibility map is the bridge from symptoms to structural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packages/quality-guard/README.md</a:t>
            </a:r>
          </a:p>
          <a:p xmlns:a="http://schemas.openxmlformats.org/drawingml/2006/main">
            <a:r>
              <a:t>- packages/quality-guard/skills/quality-refactor/SKILL.md</a:t>
            </a:r>
          </a:p>
          <a:p xmlns:a="http://schemas.openxmlformats.org/drawingml/2006/main">
            <a:r>
              <a:t>- packages/quality-guard/skills/quality-refactor/scripts/lib/config.mjs</a:t>
            </a:r>
          </a:p>
          <a:p xmlns:a="http://schemas.openxmlformats.org/drawingml/2006/main">
            <a:r>
              <a:t>- packages/quality-guard/hooks/hooks.json</a:t>
            </a:r>
          </a:p>
          <a:p xmlns:a="http://schemas.openxmlformats.org/drawingml/2006/main">
            <a:r>
              <a:t>- packages/quality-guard/scripts/quality-guard.mjs</a:t>
            </a:r>
          </a:p>
          <a:p xmlns:a="http://schemas.openxmlformats.org/drawingml/2006/main">
            <a:r>
              <a:t>- packages/quality-guard/src/commit-gate/</a:t>
            </a:r>
          </a:p>
          <a:p xmlns:a="http://schemas.openxmlformats.org/drawingml/2006/main">
            <a:r>
              <a:t>- Evidence command: quality-scan packages scripts tools --format=json, run 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operational takeaway: scan broadly, interpret responsibility and dependency boundaries, then use the staged decision and CI replay as the acceptance layers.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packages/quality-guard/README.md</a:t>
            </a:r>
            <a:endParaRPr/>
          </a:p>
          <a:p xmlns:a="http://schemas.openxmlformats.org/drawingml/2006/main">
            <a:r>
              <a:t>- packages/quality-guard/skills/quality-refactor/SKILL.md</a:t>
            </a:r>
            <a:endParaRPr/>
          </a:p>
          <a:p xmlns:a="http://schemas.openxmlformats.org/drawingml/2006/main">
            <a:r>
              <a:t>- packages/quality-guard/skills/quality-refactor/scripts/lib/config.mjs</a:t>
            </a:r>
            <a:endParaRPr/>
          </a:p>
          <a:p xmlns:a="http://schemas.openxmlformats.org/drawingml/2006/main">
            <a:r>
              <a:t>- packages/quality-guard/hooks/hooks.json</a:t>
            </a:r>
            <a:endParaRPr/>
          </a:p>
          <a:p xmlns:a="http://schemas.openxmlformats.org/drawingml/2006/main">
            <a:r>
              <a:t>- packages/quality-guard/scripts/quality-guard.mjs</a:t>
            </a:r>
            <a:endParaRPr/>
          </a:p>
          <a:p xmlns:a="http://schemas.openxmlformats.org/drawingml/2006/main">
            <a:r>
              <a:t>- packages/quality-guard/src/commit-gate/</a:t>
            </a:r>
            <a:endParaRPr/>
          </a:p>
          <a:p xmlns:a="http://schemas.openxmlformats.org/drawingml/2006/main">
            <a:r>
              <a:t>- Evidence command: quality-scan packages scripts tools --format=json, run 2026-09-01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bf944589c41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879b938fb84b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60c46e9de041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b8355400345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30cb1d66e4f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e55f25d8124d1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280a4fd40425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ea1db3121a41c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cf6e3ba8a4449" /><Relationship Type="http://schemas.openxmlformats.org/officeDocument/2006/relationships/image" Target="/ppt/media/image.png" Id="R4d36fecf041d4bb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0df9d2f1c4333" /><Relationship Type="http://schemas.openxmlformats.org/officeDocument/2006/relationships/image" Target="/ppt/media/image2.png" Id="Rd9ba53ec4537472f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4d36fecf041d4bb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d9ba53ec4537472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52258ebd244156" /><Relationship Type="http://schemas.openxmlformats.org/officeDocument/2006/relationships/slideLayout" Target="/ppt/slideLayouts/slideLayout1.xml" Id="Rc6b0670fe3ca4a30" /><Relationship Type="http://schemas.openxmlformats.org/officeDocument/2006/relationships/slideLayout" Target="/ppt/slideLayouts/slideLayout2.xml" Id="Rde3cfaab79f74078" /><Relationship Type="http://schemas.openxmlformats.org/officeDocument/2006/relationships/slideLayout" Target="/ppt/slideLayouts/slideLayout3.xml" Id="R775a67a0e8894615" /><Relationship Type="http://schemas.openxmlformats.org/officeDocument/2006/relationships/slideLayout" Target="/ppt/slideLayouts/slideLayout4.xml" Id="Re2711a0f32d64163" /><Relationship Type="http://schemas.openxmlformats.org/officeDocument/2006/relationships/slideLayout" Target="/ppt/slideLayouts/slideLayout5.xml" Id="R425ba8b5fdd44cad" /><Relationship Type="http://schemas.openxmlformats.org/officeDocument/2006/relationships/slideLayout" Target="/ppt/slideLayouts/slideLayout6.xml" Id="Rb625dc18c4e74b2c" /><Relationship Type="http://schemas.openxmlformats.org/officeDocument/2006/relationships/slideLayout" Target="/ppt/slideLayouts/slideLayout7.xml" Id="R50bf2effbc3f429f" /><Relationship Type="http://schemas.openxmlformats.org/officeDocument/2006/relationships/slideLayout" Target="/ppt/slideLayouts/slideLayout8.xml" Id="R4857460290674dfe" /><Relationship Type="http://schemas.openxmlformats.org/officeDocument/2006/relationships/slideLayout" Target="/ppt/slideLayouts/slideLayout9.xml" Id="R59b33fd3db7d47e6" /><Relationship Type="http://schemas.openxmlformats.org/officeDocument/2006/relationships/slideLayout" Target="/ppt/slideLayouts/slideLayout10.xml" Id="R7211bffbbfe4408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b0670fe3ca4a30"/>
    <p:sldLayoutId xmlns:r="http://schemas.openxmlformats.org/officeDocument/2006/relationships" id="2147483650" r:id="Rde3cfaab79f74078"/>
    <p:sldLayoutId xmlns:r="http://schemas.openxmlformats.org/officeDocument/2006/relationships" id="2147483651" r:id="R775a67a0e8894615"/>
    <p:sldLayoutId xmlns:r="http://schemas.openxmlformats.org/officeDocument/2006/relationships" id="2147483652" r:id="Re2711a0f32d64163"/>
    <p:sldLayoutId xmlns:r="http://schemas.openxmlformats.org/officeDocument/2006/relationships" id="2147483653" r:id="R425ba8b5fdd44cad"/>
    <p:sldLayoutId xmlns:r="http://schemas.openxmlformats.org/officeDocument/2006/relationships" id="2147483654" r:id="Rb625dc18c4e74b2c"/>
    <p:sldLayoutId xmlns:r="http://schemas.openxmlformats.org/officeDocument/2006/relationships" id="2147483655" r:id="R50bf2effbc3f429f"/>
    <p:sldLayoutId xmlns:r="http://schemas.openxmlformats.org/officeDocument/2006/relationships" id="2147483656" r:id="R4857460290674dfe"/>
    <p:sldLayoutId xmlns:r="http://schemas.openxmlformats.org/officeDocument/2006/relationships" id="2147483657" r:id="R59b33fd3db7d47e6"/>
    <p:sldLayoutId xmlns:r="http://schemas.openxmlformats.org/officeDocument/2006/relationships" id="2147483658" r:id="R7211bffbbfe44083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652c8f90949bc" /><Relationship Type="http://schemas.openxmlformats.org/officeDocument/2006/relationships/notesSlide" Target="/ppt/notesSlides/notesSlide1.xml" Id="Raef9958eb0194c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090b2f55e744e8" /><Relationship Type="http://schemas.openxmlformats.org/officeDocument/2006/relationships/notesSlide" Target="/ppt/notesSlides/notesSlide2.xml" Id="Rba08509afbe246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75a972a9af4d28" /><Relationship Type="http://schemas.openxmlformats.org/officeDocument/2006/relationships/notesSlide" Target="/ppt/notesSlides/notesSlide3.xml" Id="R15263e45663b49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34983d20d04c45" /><Relationship Type="http://schemas.openxmlformats.org/officeDocument/2006/relationships/notesSlide" Target="/ppt/notesSlides/notesSlide4.xml" Id="R4315fed221944c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a18a3f199674777" /><Relationship Type="http://schemas.openxmlformats.org/officeDocument/2006/relationships/notesSlide" Target="/ppt/notesSlides/notesSlide5.xml" Id="Reab31eea54a043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6a6ce6045f4567" /><Relationship Type="http://schemas.openxmlformats.org/officeDocument/2006/relationships/notesSlide" Target="/ppt/notesSlides/notesSlide6.xml" Id="Rd26ebd9fb23d49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5c8eacbbc6409b" /><Relationship Type="http://schemas.openxmlformats.org/officeDocument/2006/relationships/notesSlide" Target="/ppt/notesSlides/notesSlide7.xml" Id="R7c2254fc985b46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abf312807a43fb" /><Relationship Type="http://schemas.openxmlformats.org/officeDocument/2006/relationships/chart" Target="/ppt/slides/charts/chart1.xml" Id="R63992382180644d8" /><Relationship Type="http://schemas.openxmlformats.org/officeDocument/2006/relationships/notesSlide" Target="/ppt/notesSlides/notesSlide8.xml" Id="R139588efd9334c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d7ed71f8a34ef8" /><Relationship Type="http://schemas.openxmlformats.org/officeDocument/2006/relationships/notesSlide" Target="/ppt/notesSlides/notesSlide9.xml" Id="R4576ce3086644c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594077145644132" /><Relationship Type="http://schemas.openxmlformats.org/officeDocument/2006/relationships/notesSlide" Target="/ppt/notesSlides/notesSlide10.xml" Id="R9095f528fc0949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a6032d553b8429b" /><Relationship Type="http://schemas.openxmlformats.org/officeDocument/2006/relationships/notesSlide" Target="/ppt/notesSlides/notesSlide11.xml" Id="R53154faff13c49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66a2719f04af4" /><Relationship Type="http://schemas.openxmlformats.org/officeDocument/2006/relationships/notesSlide" Target="/ppt/notesSlides/notesSlide12.xml" Id="Rf460febd901548f6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 spc="0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Errors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code-explorer</c:v>
                </c:pt>
                <c:pt idx="1">
                  <c:v>quality-guard</c:v>
                </c:pt>
                <c:pt idx="2">
                  <c:v>fossil</c:v>
                </c:pt>
                <c:pt idx="3">
                  <c:v>dod-guard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719</c:v>
                </c:pt>
                <c:pt idx="1">
                  <c:v>186</c:v>
                </c:pt>
                <c:pt idx="2">
                  <c:v>171</c:v>
                </c:pt>
                <c:pt idx="3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Warnings</c:v>
                </c:pt>
              </c:strCache>
            </c:strRef>
          </c:tx>
          <c:spPr>
            <a:solidFill xmlns:a="http://schemas.openxmlformats.org/drawingml/2006/main">
              <a:schemeClr val="tx2">
                <a:lumMod val="50000"/>
                <a:lumOff val="50000"/>
              </a:schemeClr>
            </a:solidFill>
            <a:ln xmlns:a="http://schemas.openxmlformats.org/drawingml/2006/main">
              <a:solidFill>
                <a:schemeClr val="tx2">
                  <a:lumMod val="50000"/>
                  <a:lumOff val="50000"/>
                </a:schemeClr>
              </a:solidFill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code-explorer</c:v>
                </c:pt>
                <c:pt idx="1">
                  <c:v>quality-guard</c:v>
                </c:pt>
                <c:pt idx="2">
                  <c:v>fossil</c:v>
                </c:pt>
                <c:pt idx="3">
                  <c:v>dod-guard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2671</c:v>
                </c:pt>
                <c:pt idx="1">
                  <c:v>1100</c:v>
                </c:pt>
                <c:pt idx="2">
                  <c:v>1034</c:v>
                </c:pt>
                <c:pt idx="3">
                  <c:v>1056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overlap val="-16"/>
        <c:axId val="1785928255"/>
        <c:axId val="1769229823"/>
      </c:bar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Offset val="100"/>
      </c:catAx>
      <c:valAx>
        <c:axId val="1769229823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3176846567900986"/>
          <c:h val="0.05005992543055356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Quality Guard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What it checks and what it can guarantee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Evidence snapshot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2026-09-01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Repository review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quality-guard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2026-09-01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dod-guard monorepo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CD467879-1D03-4C9F-8B9E-ECE18F86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965513"/>
            <a:ext cx="9448800" cy="106648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800"/>
              <a:t>Quality Guard: what this system can prove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Questions</a:t>
            </a:r>
          </a:p>
        </p:txBody>
      </p:sp>
      <p:graphicFrame>
        <p:nvGraphicFramePr>
          <p:cNvPr id="10" name="Table 6"/>
          <p:cNvGraphicFramePr/>
          <p:nvPr/>
        </p:nvGraphicFramePr>
        <p:xfrm>
          <a:off xmlns:a="http://schemas.openxmlformats.org/drawingml/2006/main" x="393698" y="2667171"/>
          <a:ext xmlns:a="http://schemas.openxmlformats.org/drawingml/2006/main" cx="7835901" cy="328165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302"/>
                <a:gridCol w="7213599"/>
              </a:tblGrid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the four quality layers actually check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the PostToolUse hook can and cannot decide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Which code-quality metrics are measured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the current whole-tree scan says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a passing decision does and does not guarantee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How to turn scan output into a debt map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810BED8-CB43-D17C-4D24-32A4B0893D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9ED408-E4DF-E76D-2726-E1F5A04410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794954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Four layers answer different quality questions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Does code stay within explicit structural bounds?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Structure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Are exports used by production, not only tests?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Reachability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Did staged code preserve dependencies, ownership, and public surface?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Architecture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Did tests and acknowledgements close the decision loop?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Process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The system is layered. No single hook or scan proves that the whole repository is clean.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8F6686A-B9AA-33C7-DC98-7A7FF4AC876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The hook is fast, local feedback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PostToolUse</a:t>
            </a:r>
            <a:endParaRPr/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What it checks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It scans one touched source file, applies hard bounds or the read-only baseline ratchet, then runs configured project linters on changed lines.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Only the file touched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File-local rules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Baseline is read-only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Fails open on internal errors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Points to quality-guard check --staged</a:t>
            </a:r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567BC5C-65A7-7445-018D-E76E0A9441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405DDE8-F6E5-161D-9B9B-71916FAAD39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11838" cy="5195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has four operational tools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quality-scan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Measure structure in a path or whole tree. Returns findings, not a verdict.</a:t>
            </a:r>
            <a:endParaRPr sz="1600"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quality_gate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Compare findings to a baseline. Existing debt may stay. Regressions fail.</a:t>
            </a:r>
            <a:endParaRPr sz="1600"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quality_commit_gate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Judge staged code plus architecture evidence. Returns PASS, REVIEW_REQUIRED, or FAIL.</a:t>
            </a:r>
            <a:endParaRPr sz="1600"/>
          </a:p>
        </p:txBody>
      </p:sp>
      <p:sp>
        <p:nvSpPr>
          <p:cNvPr id="2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58" y="2759697"/>
            <a:ext cx="230437" cy="256014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9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8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4"/>
            <a:ext cx="11404599" cy="1047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quality_skips lists consumed waivers. The pre-commit check refuses unacknowledged skips. Project linters add repository-configured diagnostics.</a:t>
            </a:r>
          </a:p>
        </p:txBody>
      </p:sp>
      <p:sp>
        <p:nvSpPr>
          <p:cNvPr id="15" name="Slide Number Placeholder 14">
            <a:extLst xmlns:a="http://schemas.openxmlformats.org/drawingml/2006/main">
              <a:ext uri="{FF2B5EF4-FFF2-40B4-BE49-F238E27FC236}">
                <a16:creationId xmlns:a16="http://schemas.microsoft.com/office/drawing/2014/main" id="{3EC570A5-080B-09FC-753D-21568175A1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scanner measures structure with explicit bounds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Numeric bands plus presence rules. Preferred bounds ratchet. Hard bounds gate.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Metric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Preferred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Hard gate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What it catches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Measured at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Line length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120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Dense or hard-to-scan lines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line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File length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300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Too many responsibilities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file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Function length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Too much logic in one unit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function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Cyclomatic complexity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Too many decision paths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function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Parameters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7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Call-site coupling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function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Nesting depth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Hidden control-flow paths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function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Types per file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n/a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Unclear type boundary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file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Unnamed tuple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n/a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any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Unlabeled data contract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declaration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whole-tree scan gives a measurable baseline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449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4782848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Files scanned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7,682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Total findings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1,225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Error-level findings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5,670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Line-length findings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Command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quality-scan packages scripts tools --format=json</a:t>
            </a:r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713544-9BEE-5C18-38B2-3D7DD243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Interpretation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This inventories symptoms. It does not decide whether the repository is acceptable.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FBBC9C7-9694-DE21-B364-07358EFB8B1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D07332E9-E6BC-DD47-F254-482EEDAF581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6052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debt is concentrated, not uniform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719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code-explorer errors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186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quality-guard errors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Errors and warnings by package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Scripts and tools add 54 more errors. Warnings are dominated by 5,227 line-length warnings.</a:t>
            </a:r>
          </a:p>
        </p:txBody>
      </p:sp>
      <p:graphicFrame>
        <p:nvGraphicFramePr>
          <p:cNvPr id="51" name="Chart 2"/>
          <p:cNvGraphicFramePr/>
          <p:nvPr/>
        </p:nvGraphicFramePr>
        <p:xfrm>
          <a:off xmlns:a="http://schemas.openxmlformats.org/drawingml/2006/main" x="634472" y="1322449"/>
          <a:ext xmlns:a="http://schemas.openxmlformats.org/drawingml/2006/main" cx="5029728" cy="478459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992382180644d8"/>
          </a:graphicData>
        </a:graphic>
      </p:graphicFrame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15985" y="6056248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26A191F-219A-DB9E-DC19-FDD1658D914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Existing debt is separated from new regressions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Allowed in principle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Existing findings remain in the recorded baseline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New files are adopted at current counts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Review findings can be acknowledged for the current staged fingerprint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Requires review or fails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 tracked file gets worse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 hard bound is exceeded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New dependency, placement, public-surface, or compatibility findings appear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A passing decision means the selected staged checks cleared. It does not prove behavior, requirements, security, performance, or runtime health.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Decision boundary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A whole-codebase debt map is possible, but it is two-stage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Scan first. Interpret second.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Inventory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Run the whole-tree scan and export --format=units by file and rule.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Causality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Read callers, tests, imports, manifests, and dependency edges.</a:t>
            </a:r>
          </a:p>
        </p:txBody>
      </p:sp>
      <p:cxnSp>
        <p:nvCxnSpPr>
          <p:cNvPr id="28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Step 1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Step 2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Step 3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</a:t>
            </a:r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B8054922-82AE-F5B4-3254-FF8E3B11A7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20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32E36C81-5801-B2BE-01AA-D802EF7CAD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10402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map must explain why a finding matters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3642A94-5293-AA67-B826-5BD0DE5E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3962400"/>
          </a:xfrm>
          <a:prstGeom xmlns:a="http://schemas.openxmlformats.org/drawingml/2006/main" prst="roundRect">
            <a:avLst>
              <a:gd name="adj" fmla="val 1801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F6AC358-F5F5-46E1-3A28-330B5B7F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557" y="2032000"/>
            <a:ext cx="2597343" cy="3962400"/>
          </a:xfrm>
          <a:prstGeom xmlns:a="http://schemas.openxmlformats.org/drawingml/2006/main" prst="roundRect">
            <a:avLst>
              <a:gd name="adj" fmla="val 179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27EDC79-B9FD-D75C-F5E0-8650415F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032000"/>
            <a:ext cx="2581975" cy="3962400"/>
          </a:xfrm>
          <a:prstGeom xmlns:a="http://schemas.openxmlformats.org/drawingml/2006/main" prst="roundRect">
            <a:avLst>
              <a:gd name="adj" fmla="val 2701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FAFF379-8A28-CAB1-B1D0-F7E83A8F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957" y="2032000"/>
            <a:ext cx="2597343" cy="3962400"/>
          </a:xfrm>
          <a:prstGeom xmlns:a="http://schemas.openxmlformats.org/drawingml/2006/main" prst="roundRect">
            <a:avLst>
              <a:gd name="adj" fmla="val 2984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DC86A8A-FBA6-FD14-99C2-1C4C5D6609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8967" y="2414155"/>
            <a:ext cx="2145400" cy="159904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Responsibility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What job is mixed?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88605DFA-C810-BB6C-3C24-829EC7D93322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555921" y="2414155"/>
            <a:ext cx="2149303" cy="159904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Ownership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Current owner -&gt; desired owner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92FDC1FF-2A9F-386F-4FAC-628138F5E29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489680" y="2414155"/>
            <a:ext cx="2145400" cy="159904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Dependencies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Consumers, edges, and cycles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5C2F1B00-B28B-9F1D-8CDD-3C4B2DE34D3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426634" y="2414155"/>
            <a:ext cx="2149303" cy="159904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Boundary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Public surface, shims, and contracts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813AAE-3B9F-21FA-95B9-CBD6F80E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49" y="4356100"/>
            <a:ext cx="2076818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Connect findings to the responsibility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Keep callers and tests with the move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Record the destination</a:t>
            </a:r>
          </a:p>
        </p:txBody>
      </p:sp>
      <p:sp>
        <p:nvSpPr>
          <p:cNvPr id="1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FE99CB3-C543-5212-C2B6-D8E01565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774" y="4356100"/>
            <a:ext cx="2076818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Record the desired owner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Declare stable contracts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Delete shims when safe</a:t>
            </a:r>
          </a:p>
        </p:txBody>
      </p:sp>
      <p:sp>
        <p:nvSpPr>
          <p:cNvPr id="21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6BEB40B-1BEE-A21D-D3BE-79B2C975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849" y="4356100"/>
            <a:ext cx="2076818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Check forbidden directions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Check new cycles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Keep dependency flow explicit</a:t>
            </a: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01569E6-593E-BC39-9E85-17656D65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937" y="4356100"/>
            <a:ext cx="2076818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Compare staged architecture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Check public-surface growth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Use a fingerprint-bound acknowledgement</a:t>
            </a:r>
          </a:p>
        </p:txBody>
      </p:sp>
      <p:sp>
        <p:nvSpPr>
          <p:cNvPr id="23" name="Footer Placeholder 22">
            <a:extLst xmlns:a="http://schemas.openxmlformats.org/drawingml/2006/main">
              <a:ext uri="{FF2B5EF4-FFF2-40B4-BE49-F238E27FC236}">
                <a16:creationId xmlns:a16="http://schemas.microsoft.com/office/drawing/2014/main" id="{F79DC580-131D-75FB-A6FF-8B8F1995326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43D8131C-4637-3473-C20E-BA4F59F911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526092902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16E6E18-DCB5-27BF-4701-D93C82ECBF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681498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800">
                <a:solidFill>
                  <a:schemeClr val="accent3"/>
                </a:solidFill>
              </a:rPr>
              <a:t>The answer is layered, and the map is feasible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DF85E7E-4696-758B-00CF-3C8AE6DE93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346700"/>
            <a:ext cx="3568700" cy="7068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Quality Guard can measure the tree, stop new regressions, and expose architecture review points. It cannot guarantee behavior on its own.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23E257-E836-DD5D-F7F1-7030254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Evidence snapshot | 2026-09-01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2026-09-01T00:12:54.4180000Z</dcterms:created>
  <dcterms:modified xsi:type="dcterms:W3CDTF">2026-09-01T00:12:54.4180000Z</dcterms:modified>
</coreProperties>
</file>